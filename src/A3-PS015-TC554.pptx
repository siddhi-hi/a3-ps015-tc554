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5753100" cy="3238500"/>
  <p:notesSz cx="6858000" cy="9144000"/>
  <p:embeddedFontLst>
    <p:embeddedFont>
      <p:font typeface="PT Sans Bold" charset="1" panose="020B0703020203020204"/>
      <p:regular r:id="rId17"/>
    </p:embeddedFont>
    <p:embeddedFont>
      <p:font typeface="PT Sans Bold Italics" charset="1" panose="020B0703020203090204"/>
      <p:regular r:id="rId18"/>
    </p:embeddedFont>
    <p:embeddedFont>
      <p:font typeface="PT Sans" charset="1" panose="020B0503020203020204"/>
      <p:regular r:id="rId19"/>
    </p:embeddedFont>
    <p:embeddedFont>
      <p:font typeface="Open Sans" charset="1" panose="020B0606030504020204"/>
      <p:regular r:id="rId20"/>
    </p:embeddedFont>
    <p:embeddedFont>
      <p:font typeface="PT Sans Italics" charset="1" panose="020B0503020203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slide1.xml" Type="http://schemas.openxmlformats.org/officeDocument/2006/relationships/slide"/><Relationship Id="rId5" Target="slide2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rfc-editor.org/rfc/rfc2681.html" TargetMode="External" Type="http://schemas.openxmlformats.org/officeDocument/2006/relationships/hyperlink"/><Relationship Id="rId11" Target="https://www.rfc-editor.org/rfc/rfc3393.html" TargetMode="External" Type="http://schemas.openxmlformats.org/officeDocument/2006/relationships/hyperlink"/><Relationship Id="rId12" Target="https://www.rfc-editor.org/rfc/rfc8305.html" TargetMode="External" Type="http://schemas.openxmlformats.org/officeDocument/2006/relationships/hyperlink"/><Relationship Id="rId13" Target="https://www.rfc-editor.org/rfc/rfc8484.html" TargetMode="External" Type="http://schemas.openxmlformats.org/officeDocument/2006/relationships/hyperlink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https://www.rfc-editor.org/rfc/rfc2308.html" TargetMode="External" Type="http://schemas.openxmlformats.org/officeDocument/2006/relationships/hyperlink"/><Relationship Id="rId5" Target="https://www.rfc-editor.org/rfc/rfc826.html" TargetMode="External" Type="http://schemas.openxmlformats.org/officeDocument/2006/relationships/hyperlink"/><Relationship Id="rId6" Target="https://www.rfc-editor.org/rfc/rfc4861.html" TargetMode="External" Type="http://schemas.openxmlformats.org/officeDocument/2006/relationships/hyperlink"/><Relationship Id="rId7" Target="https://www.rfc-editor.org/rfc/rfc7567.html" TargetMode="External" Type="http://schemas.openxmlformats.org/officeDocument/2006/relationships/hyperlink"/><Relationship Id="rId8" Target="https://www.rfc-editor.org/rfc/rfc8290.html" TargetMode="External" Type="http://schemas.openxmlformats.org/officeDocument/2006/relationships/hyperlink"/><Relationship Id="rId9" Target="https://www.rfc-editor.org/rfc/rfc2680.html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slide1.xml" Type="http://schemas.openxmlformats.org/officeDocument/2006/relationships/slide"/><Relationship Id="rId4" Target="slide2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993" y="252003"/>
            <a:ext cx="508225" cy="503987"/>
            <a:chOff x="0" y="0"/>
            <a:chExt cx="677634" cy="671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672" cy="671957"/>
            </a:xfrm>
            <a:custGeom>
              <a:avLst/>
              <a:gdLst/>
              <a:ahLst/>
              <a:cxnLst/>
              <a:rect r="r" b="b" t="t" l="l"/>
              <a:pathLst>
                <a:path h="671957" w="677672">
                  <a:moveTo>
                    <a:pt x="0" y="0"/>
                  </a:moveTo>
                  <a:lnTo>
                    <a:pt x="677672" y="0"/>
                  </a:lnTo>
                  <a:lnTo>
                    <a:pt x="677672" y="671957"/>
                  </a:lnTo>
                  <a:lnTo>
                    <a:pt x="0" y="671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-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1993" y="867049"/>
            <a:ext cx="4491780" cy="120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b="true" sz="2066">
                <a:solidFill>
                  <a:srgbClr val="0000DC"/>
                </a:solidFill>
                <a:latin typeface="PT Sans Bold"/>
                <a:ea typeface="PT Sans Bold"/>
                <a:cs typeface="PT Sans Bold"/>
                <a:sym typeface="PT Sans Bold"/>
              </a:rPr>
              <a:t>A3-PS015-TC554</a:t>
            </a:r>
          </a:p>
          <a:p>
            <a:pPr algn="l">
              <a:lnSpc>
                <a:spcPts val="1673"/>
              </a:lnSpc>
            </a:pPr>
            <a:r>
              <a:rPr lang="en-US" b="true" sz="1195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Explainable Home and Last-Mile Connectivity Diagnosis</a:t>
            </a:r>
          </a:p>
          <a:p>
            <a:pPr algn="l">
              <a:lnSpc>
                <a:spcPts val="1673"/>
              </a:lnSpc>
            </a:pPr>
          </a:p>
          <a:p>
            <a:pPr algn="l">
              <a:lnSpc>
                <a:spcPts val="1813"/>
              </a:lnSpc>
            </a:pPr>
            <a:r>
              <a:rPr lang="en-US" b="true" sz="1295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NERVE - </a:t>
            </a:r>
            <a:r>
              <a:rPr lang="en-US" b="true" sz="1295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Network Evidence, Reasoned Verification &amp; Explanation</a:t>
            </a:r>
          </a:p>
          <a:p>
            <a:pPr algn="l">
              <a:lnSpc>
                <a:spcPts val="167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51993" y="2157603"/>
            <a:ext cx="1827230" cy="61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b="true" sz="99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Pujan Sonani </a:t>
            </a:r>
            <a:r>
              <a:rPr lang="en-US" b="true" sz="99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personal email ID-pujansonani1811@gmail.com</a:t>
            </a:r>
          </a:p>
          <a:p>
            <a:pPr algn="l">
              <a:lnSpc>
                <a:spcPts val="1083"/>
              </a:lnSpc>
            </a:pPr>
            <a:r>
              <a:rPr lang="en-US" sz="7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AIORI</a:t>
            </a:r>
            <a:r>
              <a:rPr lang="en-US" sz="7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7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Hackathon</a:t>
            </a:r>
            <a:r>
              <a:rPr lang="en-US" sz="7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7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3</a:t>
            </a:r>
          </a:p>
          <a:p>
            <a:pPr algn="l">
              <a:lnSpc>
                <a:spcPts val="1219"/>
              </a:lnSpc>
            </a:pPr>
            <a:r>
              <a:rPr lang="en-US" sz="89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THREE MUSKETEERS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557" y="746048"/>
            <a:ext cx="2035442" cy="2006447"/>
            <a:chOff x="0" y="0"/>
            <a:chExt cx="1702693" cy="1678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2693" cy="1678438"/>
            </a:xfrm>
            <a:custGeom>
              <a:avLst/>
              <a:gdLst/>
              <a:ahLst/>
              <a:cxnLst/>
              <a:rect r="r" b="b" t="t" l="l"/>
              <a:pathLst>
                <a:path h="1678438" w="1702693">
                  <a:moveTo>
                    <a:pt x="60857" y="0"/>
                  </a:moveTo>
                  <a:lnTo>
                    <a:pt x="1641836" y="0"/>
                  </a:lnTo>
                  <a:cubicBezTo>
                    <a:pt x="1675447" y="0"/>
                    <a:pt x="1702693" y="27247"/>
                    <a:pt x="1702693" y="60857"/>
                  </a:cubicBezTo>
                  <a:lnTo>
                    <a:pt x="1702693" y="1617581"/>
                  </a:lnTo>
                  <a:cubicBezTo>
                    <a:pt x="1702693" y="1651192"/>
                    <a:pt x="1675447" y="1678438"/>
                    <a:pt x="1641836" y="1678438"/>
                  </a:cubicBezTo>
                  <a:lnTo>
                    <a:pt x="60857" y="1678438"/>
                  </a:lnTo>
                  <a:cubicBezTo>
                    <a:pt x="27247" y="1678438"/>
                    <a:pt x="0" y="1651192"/>
                    <a:pt x="0" y="1617581"/>
                  </a:cubicBezTo>
                  <a:lnTo>
                    <a:pt x="0" y="60857"/>
                  </a:lnTo>
                  <a:cubicBezTo>
                    <a:pt x="0" y="27247"/>
                    <a:pt x="27247" y="0"/>
                    <a:pt x="60857" y="0"/>
                  </a:cubicBezTo>
                  <a:close/>
                </a:path>
              </a:pathLst>
            </a:custGeom>
            <a:solidFill>
              <a:srgbClr val="C8D1D9">
                <a:alpha val="49804"/>
              </a:srgbClr>
            </a:solidFill>
            <a:ln w="952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02693" cy="1687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4698" y="534106"/>
            <a:ext cx="3207656" cy="1019072"/>
            <a:chOff x="0" y="0"/>
            <a:chExt cx="2683276" cy="8524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3276" cy="852477"/>
            </a:xfrm>
            <a:custGeom>
              <a:avLst/>
              <a:gdLst/>
              <a:ahLst/>
              <a:cxnLst/>
              <a:rect r="r" b="b" t="t" l="l"/>
              <a:pathLst>
                <a:path h="852477" w="2683276">
                  <a:moveTo>
                    <a:pt x="38617" y="0"/>
                  </a:moveTo>
                  <a:lnTo>
                    <a:pt x="2644659" y="0"/>
                  </a:lnTo>
                  <a:cubicBezTo>
                    <a:pt x="2665987" y="0"/>
                    <a:pt x="2683276" y="17290"/>
                    <a:pt x="2683276" y="38617"/>
                  </a:cubicBezTo>
                  <a:lnTo>
                    <a:pt x="2683276" y="813860"/>
                  </a:lnTo>
                  <a:cubicBezTo>
                    <a:pt x="2683276" y="835187"/>
                    <a:pt x="2665987" y="852477"/>
                    <a:pt x="2644659" y="852477"/>
                  </a:cubicBezTo>
                  <a:lnTo>
                    <a:pt x="38617" y="852477"/>
                  </a:lnTo>
                  <a:cubicBezTo>
                    <a:pt x="17290" y="852477"/>
                    <a:pt x="0" y="835187"/>
                    <a:pt x="0" y="813860"/>
                  </a:cubicBezTo>
                  <a:lnTo>
                    <a:pt x="0" y="38617"/>
                  </a:lnTo>
                  <a:cubicBezTo>
                    <a:pt x="0" y="17290"/>
                    <a:pt x="17290" y="0"/>
                    <a:pt x="38617" y="0"/>
                  </a:cubicBezTo>
                  <a:close/>
                </a:path>
              </a:pathLst>
            </a:custGeom>
            <a:solidFill>
              <a:srgbClr val="C8D1D9">
                <a:alpha val="29804"/>
              </a:srgbClr>
            </a:solidFill>
            <a:ln w="9525" cap="sq">
              <a:solidFill>
                <a:srgbClr val="000000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683276" cy="86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14698" y="1882621"/>
            <a:ext cx="3207656" cy="1019072"/>
            <a:chOff x="0" y="0"/>
            <a:chExt cx="2683276" cy="852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83276" cy="852477"/>
            </a:xfrm>
            <a:custGeom>
              <a:avLst/>
              <a:gdLst/>
              <a:ahLst/>
              <a:cxnLst/>
              <a:rect r="r" b="b" t="t" l="l"/>
              <a:pathLst>
                <a:path h="852477" w="2683276">
                  <a:moveTo>
                    <a:pt x="38617" y="0"/>
                  </a:moveTo>
                  <a:lnTo>
                    <a:pt x="2644659" y="0"/>
                  </a:lnTo>
                  <a:cubicBezTo>
                    <a:pt x="2665987" y="0"/>
                    <a:pt x="2683276" y="17290"/>
                    <a:pt x="2683276" y="38617"/>
                  </a:cubicBezTo>
                  <a:lnTo>
                    <a:pt x="2683276" y="813860"/>
                  </a:lnTo>
                  <a:cubicBezTo>
                    <a:pt x="2683276" y="835187"/>
                    <a:pt x="2665987" y="852477"/>
                    <a:pt x="2644659" y="852477"/>
                  </a:cubicBezTo>
                  <a:lnTo>
                    <a:pt x="38617" y="852477"/>
                  </a:lnTo>
                  <a:cubicBezTo>
                    <a:pt x="17290" y="852477"/>
                    <a:pt x="0" y="835187"/>
                    <a:pt x="0" y="813860"/>
                  </a:cubicBezTo>
                  <a:lnTo>
                    <a:pt x="0" y="38617"/>
                  </a:lnTo>
                  <a:cubicBezTo>
                    <a:pt x="0" y="17290"/>
                    <a:pt x="17290" y="0"/>
                    <a:pt x="38617" y="0"/>
                  </a:cubicBezTo>
                  <a:close/>
                </a:path>
              </a:pathLst>
            </a:custGeom>
            <a:solidFill>
              <a:srgbClr val="C8D1D9">
                <a:alpha val="29804"/>
              </a:srgbClr>
            </a:solidFill>
            <a:ln w="9525" cap="sq">
              <a:solidFill>
                <a:srgbClr val="000000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683276" cy="86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26219" y="380793"/>
            <a:ext cx="176957" cy="168110"/>
          </a:xfrm>
          <a:custGeom>
            <a:avLst/>
            <a:gdLst/>
            <a:ahLst/>
            <a:cxnLst/>
            <a:rect r="r" b="b" t="t" l="l"/>
            <a:pathLst>
              <a:path h="168110" w="176957">
                <a:moveTo>
                  <a:pt x="0" y="0"/>
                </a:moveTo>
                <a:lnTo>
                  <a:pt x="176957" y="0"/>
                </a:lnTo>
                <a:lnTo>
                  <a:pt x="176957" y="168110"/>
                </a:lnTo>
                <a:lnTo>
                  <a:pt x="0" y="16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557" y="551749"/>
            <a:ext cx="176957" cy="168110"/>
          </a:xfrm>
          <a:custGeom>
            <a:avLst/>
            <a:gdLst/>
            <a:ahLst/>
            <a:cxnLst/>
            <a:rect r="r" b="b" t="t" l="l"/>
            <a:pathLst>
              <a:path h="168110" w="176957">
                <a:moveTo>
                  <a:pt x="0" y="0"/>
                </a:moveTo>
                <a:lnTo>
                  <a:pt x="176958" y="0"/>
                </a:lnTo>
                <a:lnTo>
                  <a:pt x="176958" y="168110"/>
                </a:lnTo>
                <a:lnTo>
                  <a:pt x="0" y="16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14698" y="1665217"/>
            <a:ext cx="176957" cy="168110"/>
          </a:xfrm>
          <a:custGeom>
            <a:avLst/>
            <a:gdLst/>
            <a:ahLst/>
            <a:cxnLst/>
            <a:rect r="r" b="b" t="t" l="l"/>
            <a:pathLst>
              <a:path h="168110" w="176957">
                <a:moveTo>
                  <a:pt x="0" y="0"/>
                </a:moveTo>
                <a:lnTo>
                  <a:pt x="176957" y="0"/>
                </a:lnTo>
                <a:lnTo>
                  <a:pt x="176957" y="168109"/>
                </a:lnTo>
                <a:lnTo>
                  <a:pt x="0" y="16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06515" y="571275"/>
            <a:ext cx="1182432" cy="155722"/>
            <a:chOff x="0" y="0"/>
            <a:chExt cx="989131" cy="1302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9131" cy="130265"/>
            </a:xfrm>
            <a:custGeom>
              <a:avLst/>
              <a:gdLst/>
              <a:ahLst/>
              <a:cxnLst/>
              <a:rect r="r" b="b" t="t" l="l"/>
              <a:pathLst>
                <a:path h="130265" w="989131">
                  <a:moveTo>
                    <a:pt x="65133" y="0"/>
                  </a:moveTo>
                  <a:lnTo>
                    <a:pt x="923998" y="0"/>
                  </a:lnTo>
                  <a:cubicBezTo>
                    <a:pt x="959970" y="0"/>
                    <a:pt x="989131" y="29161"/>
                    <a:pt x="989131" y="65133"/>
                  </a:cubicBezTo>
                  <a:lnTo>
                    <a:pt x="989131" y="65133"/>
                  </a:lnTo>
                  <a:cubicBezTo>
                    <a:pt x="989131" y="82407"/>
                    <a:pt x="982268" y="98974"/>
                    <a:pt x="970054" y="111188"/>
                  </a:cubicBezTo>
                  <a:cubicBezTo>
                    <a:pt x="957839" y="123403"/>
                    <a:pt x="941272" y="130265"/>
                    <a:pt x="923998" y="130265"/>
                  </a:cubicBezTo>
                  <a:lnTo>
                    <a:pt x="65133" y="130265"/>
                  </a:lnTo>
                  <a:cubicBezTo>
                    <a:pt x="29161" y="130265"/>
                    <a:pt x="0" y="101104"/>
                    <a:pt x="0" y="65133"/>
                  </a:cubicBezTo>
                  <a:lnTo>
                    <a:pt x="0" y="65133"/>
                  </a:lnTo>
                  <a:cubicBezTo>
                    <a:pt x="0" y="29161"/>
                    <a:pt x="29161" y="0"/>
                    <a:pt x="65133" y="0"/>
                  </a:cubicBezTo>
                  <a:close/>
                </a:path>
              </a:pathLst>
            </a:custGeom>
            <a:solidFill>
              <a:srgbClr val="A8322B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89131" cy="139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05070" y="552574"/>
            <a:ext cx="1004292" cy="17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b="true" sz="1021" spc="73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CORE PROBLEM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010" y="3098578"/>
            <a:ext cx="556855" cy="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4" action="ppaction://hlinksldjump"/>
              </a:rPr>
              <a:t>A3-PS015-TC554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20925" y="21479"/>
            <a:ext cx="284959" cy="10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5" action="ppaction://hlinksldjump"/>
              </a:rPr>
              <a:t>AIORI</a:t>
            </a:r>
            <a:r>
              <a:rPr lang="en-US" sz="5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5" action="ppaction://hlinksldjump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59713" y="21479"/>
            <a:ext cx="313839" cy="10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5" action="ppaction://hlinksldjump"/>
              </a:rPr>
              <a:t>Abstract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1993" y="175441"/>
            <a:ext cx="1590080" cy="24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>
                <a:solidFill>
                  <a:srgbClr val="0000DC"/>
                </a:solidFill>
                <a:latin typeface="PT Sans Bold"/>
                <a:ea typeface="PT Sans Bold"/>
                <a:cs typeface="PT Sans Bold"/>
                <a:sym typeface="PT Sans Bold"/>
              </a:rPr>
              <a:t>Problem</a:t>
            </a:r>
            <a:r>
              <a:rPr lang="en-US" b="true" sz="1434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</a:t>
            </a:r>
            <a:r>
              <a:rPr lang="en-US" b="true" sz="1434">
                <a:solidFill>
                  <a:srgbClr val="0000DC"/>
                </a:solidFill>
                <a:latin typeface="PT Sans Bold"/>
                <a:ea typeface="PT Sans Bold"/>
                <a:cs typeface="PT Sans Bold"/>
                <a:sym typeface="PT Sans Bold"/>
              </a:rPr>
              <a:t>Description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880" y="3098578"/>
            <a:ext cx="808130" cy="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THREE</a:t>
            </a: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 MUSKETEERS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7591" y="3098578"/>
            <a:ext cx="563831" cy="95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A30B4"/>
                </a:solidFill>
                <a:latin typeface="PT Sans"/>
                <a:ea typeface="PT Sans"/>
                <a:cs typeface="PT Sans"/>
                <a:sym typeface="PT Sans"/>
              </a:rPr>
              <a:t>October 12,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1284" y="3047619"/>
            <a:ext cx="51625" cy="2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5">
                <a:solidFill>
                  <a:srgbClr val="0000DC"/>
                </a:solidFill>
                <a:latin typeface="Open Sans"/>
                <a:ea typeface="Open Sans"/>
                <a:cs typeface="Open Sans"/>
                <a:sym typeface="Open Sans"/>
              </a:rPr>
              <a:t>·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5965" y="3047619"/>
            <a:ext cx="51625" cy="2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5">
                <a:solidFill>
                  <a:srgbClr val="0000DC"/>
                </a:solidFill>
                <a:latin typeface="Open Sans"/>
                <a:ea typeface="Open Sans"/>
                <a:cs typeface="Open Sans"/>
                <a:sym typeface="Open Sans"/>
              </a:rPr>
              <a:t>·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5947" y="946310"/>
            <a:ext cx="87414" cy="11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"/>
              </a:lnSpc>
            </a:pPr>
            <a:r>
              <a:rPr lang="en-US" sz="644" spc="515">
                <a:solidFill>
                  <a:srgbClr val="2B2F36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440571" y="305013"/>
            <a:ext cx="1996315" cy="200518"/>
            <a:chOff x="0" y="0"/>
            <a:chExt cx="1669963" cy="1677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69963" cy="167738"/>
            </a:xfrm>
            <a:custGeom>
              <a:avLst/>
              <a:gdLst/>
              <a:ahLst/>
              <a:cxnLst/>
              <a:rect r="r" b="b" t="t" l="l"/>
              <a:pathLst>
                <a:path h="167738" w="1669963">
                  <a:moveTo>
                    <a:pt x="62050" y="0"/>
                  </a:moveTo>
                  <a:lnTo>
                    <a:pt x="1607913" y="0"/>
                  </a:lnTo>
                  <a:cubicBezTo>
                    <a:pt x="1642182" y="0"/>
                    <a:pt x="1669963" y="27781"/>
                    <a:pt x="1669963" y="62050"/>
                  </a:cubicBezTo>
                  <a:lnTo>
                    <a:pt x="1669963" y="105688"/>
                  </a:lnTo>
                  <a:cubicBezTo>
                    <a:pt x="1669963" y="122145"/>
                    <a:pt x="1663425" y="137927"/>
                    <a:pt x="1651789" y="149564"/>
                  </a:cubicBezTo>
                  <a:cubicBezTo>
                    <a:pt x="1640152" y="161201"/>
                    <a:pt x="1624370" y="167738"/>
                    <a:pt x="1607913" y="167738"/>
                  </a:cubicBezTo>
                  <a:lnTo>
                    <a:pt x="62050" y="167738"/>
                  </a:lnTo>
                  <a:cubicBezTo>
                    <a:pt x="45593" y="167738"/>
                    <a:pt x="29811" y="161201"/>
                    <a:pt x="18174" y="149564"/>
                  </a:cubicBezTo>
                  <a:cubicBezTo>
                    <a:pt x="6537" y="137927"/>
                    <a:pt x="0" y="122145"/>
                    <a:pt x="0" y="105688"/>
                  </a:cubicBezTo>
                  <a:lnTo>
                    <a:pt x="0" y="62050"/>
                  </a:lnTo>
                  <a:cubicBezTo>
                    <a:pt x="0" y="45593"/>
                    <a:pt x="6537" y="29811"/>
                    <a:pt x="18174" y="18174"/>
                  </a:cubicBezTo>
                  <a:cubicBezTo>
                    <a:pt x="29811" y="6537"/>
                    <a:pt x="45593" y="0"/>
                    <a:pt x="62050" y="0"/>
                  </a:cubicBezTo>
                  <a:close/>
                </a:path>
              </a:pathLst>
            </a:custGeom>
            <a:solidFill>
              <a:srgbClr val="CCDCF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669963" cy="17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590596" y="336618"/>
            <a:ext cx="1696265" cy="12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0"/>
              </a:lnSpc>
            </a:pPr>
            <a:r>
              <a:rPr lang="en-US" b="true" sz="821" spc="58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REAL-WORLD USER PAIN POINTS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2489" y="816104"/>
            <a:ext cx="1809578" cy="186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8201" indent="-74100" lvl="1">
              <a:lnSpc>
                <a:spcPts val="961"/>
              </a:lnSpc>
              <a:spcBef>
                <a:spcPct val="0"/>
              </a:spcBef>
              <a:buFont typeface="Arial"/>
              <a:buChar char="•"/>
            </a:pP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Speed tests</a:t>
            </a:r>
            <a:r>
              <a:rPr lang="en-US" b="true" sz="68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only</a:t>
            </a: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show symptoms, not the cause: Running a speed test tells y</a:t>
            </a: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ou bandwidth is low or ping is high, but never explains </a:t>
            </a:r>
            <a:r>
              <a:rPr lang="en-US" b="true" sz="686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where or why</a:t>
            </a: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the issue is happening. </a:t>
            </a:r>
          </a:p>
          <a:p>
            <a:pPr algn="l">
              <a:lnSpc>
                <a:spcPts val="961"/>
              </a:lnSpc>
              <a:spcBef>
                <a:spcPct val="0"/>
              </a:spcBef>
            </a:pP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</a:t>
            </a:r>
            <a:r>
              <a:rPr lang="en-US" sz="686" i="true">
                <a:solidFill>
                  <a:srgbClr val="000000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 "Blame Game"</a:t>
            </a: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confusion: Everyday users cannot pinpoint which part of their network is failing: </a:t>
            </a:r>
          </a:p>
          <a:p>
            <a:pPr algn="l" marL="148201" indent="-74100" lvl="1">
              <a:lnSpc>
                <a:spcPts val="961"/>
              </a:lnSpc>
              <a:spcBef>
                <a:spcPct val="0"/>
              </a:spcBef>
              <a:buFont typeface="Arial"/>
              <a:buChar char="•"/>
            </a:pP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Is it their own Wi-Fi / local router? </a:t>
            </a:r>
          </a:p>
          <a:p>
            <a:pPr algn="l" marL="148201" indent="-74100" lvl="1">
              <a:lnSpc>
                <a:spcPts val="961"/>
              </a:lnSpc>
              <a:spcBef>
                <a:spcPct val="0"/>
              </a:spcBef>
              <a:buFont typeface="Arial"/>
              <a:buChar char="•"/>
            </a:pP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Is it a DNS issue stopping websites from loading? </a:t>
            </a:r>
          </a:p>
          <a:p>
            <a:pPr algn="l" marL="148201" indent="-74100" lvl="1">
              <a:lnSpc>
                <a:spcPts val="961"/>
              </a:lnSpc>
              <a:spcBef>
                <a:spcPct val="0"/>
              </a:spcBef>
              <a:buFont typeface="Arial"/>
              <a:buChar char="•"/>
            </a:pP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Is it packet loss on a specific path to one website? </a:t>
            </a:r>
          </a:p>
          <a:p>
            <a:pPr algn="l" marL="148201" indent="-74100" lvl="1">
              <a:lnSpc>
                <a:spcPts val="961"/>
              </a:lnSpc>
              <a:spcBef>
                <a:spcPct val="0"/>
              </a:spcBef>
              <a:buFont typeface="Arial"/>
              <a:buChar char="•"/>
            </a:pPr>
            <a:r>
              <a:rPr lang="en-US" sz="68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Is it network congestion because someone else is uploading or downloading? </a:t>
            </a:r>
          </a:p>
          <a:p>
            <a:pPr algn="l">
              <a:lnSpc>
                <a:spcPts val="961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2392612" y="655517"/>
            <a:ext cx="3051826" cy="70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Work &amp; Study disruption:</a:t>
            </a:r>
          </a:p>
          <a:p>
            <a:pPr algn="l" marL="151131" indent="-75565" lvl="1">
              <a:lnSpc>
                <a:spcPts val="980"/>
              </a:lnSpc>
              <a:spcBef>
                <a:spcPct val="0"/>
              </a:spcBef>
              <a:buFont typeface="Arial"/>
              <a:buChar char="•"/>
            </a:pPr>
            <a:r>
              <a:rPr lang="en-US" sz="7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Remote workers face frozen video calls during household file transfers. </a:t>
            </a:r>
          </a:p>
          <a:p>
            <a:pPr algn="l" marL="151131" indent="-75565" lvl="1">
              <a:lnSpc>
                <a:spcPts val="980"/>
              </a:lnSpc>
              <a:spcBef>
                <a:spcPct val="0"/>
              </a:spcBef>
              <a:buFont typeface="Arial"/>
              <a:buChar char="•"/>
            </a:pPr>
            <a:r>
              <a:rPr lang="en-US" sz="7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Students see browser errors even though the computer shows "Connected". </a:t>
            </a:r>
          </a:p>
          <a:p>
            <a:pPr algn="l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Blind, trial-and-error fixes: </a:t>
            </a:r>
          </a:p>
          <a:p>
            <a:pPr algn="l" marL="151131" indent="-75565" lvl="1">
              <a:lnSpc>
                <a:spcPts val="980"/>
              </a:lnSpc>
              <a:spcBef>
                <a:spcPct val="0"/>
              </a:spcBef>
              <a:buFont typeface="Arial"/>
              <a:buChar char="•"/>
            </a:pPr>
            <a:r>
              <a:rPr lang="en-US" sz="7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Users waste time randomly restarting routers, swapping cables, or tweaking system settings without knowing if it helps.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491655" y="1670324"/>
            <a:ext cx="1996315" cy="184314"/>
            <a:chOff x="0" y="0"/>
            <a:chExt cx="1669963" cy="1541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69963" cy="154183"/>
            </a:xfrm>
            <a:custGeom>
              <a:avLst/>
              <a:gdLst/>
              <a:ahLst/>
              <a:cxnLst/>
              <a:rect r="r" b="b" t="t" l="l"/>
              <a:pathLst>
                <a:path h="154183" w="1669963">
                  <a:moveTo>
                    <a:pt x="62050" y="0"/>
                  </a:moveTo>
                  <a:lnTo>
                    <a:pt x="1607913" y="0"/>
                  </a:lnTo>
                  <a:cubicBezTo>
                    <a:pt x="1642182" y="0"/>
                    <a:pt x="1669963" y="27781"/>
                    <a:pt x="1669963" y="62050"/>
                  </a:cubicBezTo>
                  <a:lnTo>
                    <a:pt x="1669963" y="92133"/>
                  </a:lnTo>
                  <a:cubicBezTo>
                    <a:pt x="1669963" y="108590"/>
                    <a:pt x="1663425" y="124372"/>
                    <a:pt x="1651789" y="136009"/>
                  </a:cubicBezTo>
                  <a:cubicBezTo>
                    <a:pt x="1640152" y="147645"/>
                    <a:pt x="1624370" y="154183"/>
                    <a:pt x="1607913" y="154183"/>
                  </a:cubicBezTo>
                  <a:lnTo>
                    <a:pt x="62050" y="154183"/>
                  </a:lnTo>
                  <a:cubicBezTo>
                    <a:pt x="45593" y="154183"/>
                    <a:pt x="29811" y="147645"/>
                    <a:pt x="18174" y="136009"/>
                  </a:cubicBezTo>
                  <a:cubicBezTo>
                    <a:pt x="6537" y="124372"/>
                    <a:pt x="0" y="108590"/>
                    <a:pt x="0" y="92133"/>
                  </a:cubicBezTo>
                  <a:lnTo>
                    <a:pt x="0" y="62050"/>
                  </a:lnTo>
                  <a:cubicBezTo>
                    <a:pt x="0" y="45593"/>
                    <a:pt x="6537" y="29811"/>
                    <a:pt x="18174" y="18174"/>
                  </a:cubicBezTo>
                  <a:cubicBezTo>
                    <a:pt x="29811" y="6537"/>
                    <a:pt x="45593" y="0"/>
                    <a:pt x="62050" y="0"/>
                  </a:cubicBezTo>
                  <a:close/>
                </a:path>
              </a:pathLst>
            </a:custGeom>
            <a:solidFill>
              <a:srgbClr val="13794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69963" cy="16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613865" y="1668992"/>
            <a:ext cx="1751895" cy="16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0"/>
              </a:lnSpc>
              <a:spcBef>
                <a:spcPct val="0"/>
              </a:spcBef>
            </a:pPr>
            <a:r>
              <a:rPr lang="en-US" b="true" sz="1007">
                <a:solidFill>
                  <a:srgbClr val="FFDE59"/>
                </a:solidFill>
                <a:latin typeface="PT Sans Bold"/>
                <a:ea typeface="PT Sans Bold"/>
                <a:cs typeface="PT Sans Bold"/>
                <a:sym typeface="PT Sans Bold"/>
              </a:rPr>
              <a:t>SUPPORT &amp; ISP CHALLENGES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92612" y="2006446"/>
            <a:ext cx="3009052" cy="97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54677" indent="-77338" lvl="1">
              <a:lnSpc>
                <a:spcPts val="1003"/>
              </a:lnSpc>
              <a:buFont typeface="Arial"/>
              <a:buChar char="•"/>
            </a:pPr>
            <a:r>
              <a:rPr lang="en-US" b="true" sz="71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Vague customer complaints:</a:t>
            </a:r>
            <a:r>
              <a:rPr lang="en-US" sz="71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Support engineers get tickets saying "internet is slow" or "Wi-Fi is down" instead of measurable evidence. </a:t>
            </a:r>
          </a:p>
          <a:p>
            <a:pPr algn="just" marL="154677" indent="-77338" lvl="1">
              <a:lnSpc>
                <a:spcPts val="1003"/>
              </a:lnSpc>
              <a:buFont typeface="Arial"/>
              <a:buChar char="•"/>
            </a:pPr>
            <a:r>
              <a:rPr lang="en-US" b="true" sz="71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No verifiable logs:</a:t>
            </a:r>
            <a:r>
              <a:rPr lang="en-US" sz="71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Technicians lack timestamps, probe targets, and path metrics needed to quickly isolate and reproduce the problem. </a:t>
            </a:r>
          </a:p>
          <a:p>
            <a:pPr algn="just" marL="154677" indent="-77338" lvl="1">
              <a:lnSpc>
                <a:spcPts val="1003"/>
              </a:lnSpc>
              <a:buFont typeface="Arial"/>
              <a:buChar char="•"/>
            </a:pPr>
            <a:r>
              <a:rPr lang="en-US" b="true" sz="71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Guesswork over proof:</a:t>
            </a:r>
            <a:r>
              <a:rPr lang="en-US" sz="71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Most existing diagnostic tools force a speculative guess instead of honestly stating when evidence is missing or inconclusive. </a:t>
            </a:r>
          </a:p>
          <a:p>
            <a:pPr algn="just">
              <a:lnSpc>
                <a:spcPts val="10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170" y="614760"/>
            <a:ext cx="5539756" cy="431867"/>
          </a:xfrm>
          <a:custGeom>
            <a:avLst/>
            <a:gdLst/>
            <a:ahLst/>
            <a:cxnLst/>
            <a:rect r="r" b="b" t="t" l="l"/>
            <a:pathLst>
              <a:path h="431867" w="5539756">
                <a:moveTo>
                  <a:pt x="0" y="0"/>
                </a:moveTo>
                <a:lnTo>
                  <a:pt x="5539756" y="0"/>
                </a:lnTo>
                <a:lnTo>
                  <a:pt x="5539756" y="431867"/>
                </a:lnTo>
                <a:lnTo>
                  <a:pt x="0" y="431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7116" r="0" b="-1634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1946" y="1870175"/>
            <a:ext cx="1077036" cy="766707"/>
            <a:chOff x="0" y="0"/>
            <a:chExt cx="900965" cy="6413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0965" cy="641367"/>
            </a:xfrm>
            <a:custGeom>
              <a:avLst/>
              <a:gdLst/>
              <a:ahLst/>
              <a:cxnLst/>
              <a:rect r="r" b="b" t="t" l="l"/>
              <a:pathLst>
                <a:path h="641367" w="900965">
                  <a:moveTo>
                    <a:pt x="115011" y="0"/>
                  </a:moveTo>
                  <a:lnTo>
                    <a:pt x="785955" y="0"/>
                  </a:lnTo>
                  <a:cubicBezTo>
                    <a:pt x="816457" y="0"/>
                    <a:pt x="845711" y="12117"/>
                    <a:pt x="867280" y="33686"/>
                  </a:cubicBezTo>
                  <a:cubicBezTo>
                    <a:pt x="888848" y="55255"/>
                    <a:pt x="900965" y="84508"/>
                    <a:pt x="900965" y="115011"/>
                  </a:cubicBezTo>
                  <a:lnTo>
                    <a:pt x="900965" y="526357"/>
                  </a:lnTo>
                  <a:cubicBezTo>
                    <a:pt x="900965" y="556859"/>
                    <a:pt x="888848" y="586113"/>
                    <a:pt x="867280" y="607682"/>
                  </a:cubicBezTo>
                  <a:cubicBezTo>
                    <a:pt x="845711" y="629250"/>
                    <a:pt x="816457" y="641367"/>
                    <a:pt x="785955" y="641367"/>
                  </a:cubicBezTo>
                  <a:lnTo>
                    <a:pt x="115011" y="641367"/>
                  </a:lnTo>
                  <a:cubicBezTo>
                    <a:pt x="84508" y="641367"/>
                    <a:pt x="55255" y="629250"/>
                    <a:pt x="33686" y="607682"/>
                  </a:cubicBezTo>
                  <a:cubicBezTo>
                    <a:pt x="12117" y="586113"/>
                    <a:pt x="0" y="556859"/>
                    <a:pt x="0" y="526357"/>
                  </a:cubicBezTo>
                  <a:lnTo>
                    <a:pt x="0" y="115011"/>
                  </a:lnTo>
                  <a:cubicBezTo>
                    <a:pt x="0" y="84508"/>
                    <a:pt x="12117" y="55255"/>
                    <a:pt x="33686" y="33686"/>
                  </a:cubicBezTo>
                  <a:cubicBezTo>
                    <a:pt x="55255" y="12117"/>
                    <a:pt x="84508" y="0"/>
                    <a:pt x="115011" y="0"/>
                  </a:cubicBezTo>
                  <a:close/>
                </a:path>
              </a:pathLst>
            </a:custGeom>
            <a:solidFill>
              <a:srgbClr val="C8D1D9">
                <a:alpha val="47843"/>
              </a:srgbClr>
            </a:solidFill>
            <a:ln w="9525" cap="sq">
              <a:solidFill>
                <a:srgbClr val="000000">
                  <a:alpha val="47843"/>
                </a:srgbClr>
              </a:solidFill>
              <a:prstDash val="lg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900965" cy="650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>
            <a:off x="1351491" y="1032041"/>
            <a:ext cx="233926" cy="838134"/>
          </a:xfrm>
          <a:custGeom>
            <a:avLst/>
            <a:gdLst/>
            <a:ahLst/>
            <a:cxnLst/>
            <a:rect r="r" b="b" t="t" l="l"/>
            <a:pathLst>
              <a:path h="838134" w="233926">
                <a:moveTo>
                  <a:pt x="7475" y="838134"/>
                </a:moveTo>
                <a:quadBezTo>
                  <a:pt x="-41816" y="375157"/>
                  <a:pt x="233926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970815" y="1888156"/>
            <a:ext cx="971641" cy="11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000DC"/>
                </a:solidFill>
                <a:latin typeface="PT Sans Bold"/>
                <a:ea typeface="PT Sans Bold"/>
                <a:cs typeface="PT Sans Bold"/>
                <a:sym typeface="PT Sans Bold"/>
              </a:rPr>
              <a:t>Endpoint Blindness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659" y="1181352"/>
            <a:ext cx="875156" cy="766707"/>
            <a:chOff x="0" y="0"/>
            <a:chExt cx="732088" cy="6413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2088" cy="641367"/>
            </a:xfrm>
            <a:custGeom>
              <a:avLst/>
              <a:gdLst/>
              <a:ahLst/>
              <a:cxnLst/>
              <a:rect r="r" b="b" t="t" l="l"/>
              <a:pathLst>
                <a:path h="641367" w="732088">
                  <a:moveTo>
                    <a:pt x="141541" y="0"/>
                  </a:moveTo>
                  <a:lnTo>
                    <a:pt x="590546" y="0"/>
                  </a:lnTo>
                  <a:cubicBezTo>
                    <a:pt x="628085" y="0"/>
                    <a:pt x="664087" y="14912"/>
                    <a:pt x="690631" y="41456"/>
                  </a:cubicBezTo>
                  <a:cubicBezTo>
                    <a:pt x="717175" y="68001"/>
                    <a:pt x="732088" y="104002"/>
                    <a:pt x="732088" y="141541"/>
                  </a:cubicBezTo>
                  <a:lnTo>
                    <a:pt x="732088" y="499826"/>
                  </a:lnTo>
                  <a:cubicBezTo>
                    <a:pt x="732088" y="537365"/>
                    <a:pt x="717175" y="573367"/>
                    <a:pt x="690631" y="599911"/>
                  </a:cubicBezTo>
                  <a:cubicBezTo>
                    <a:pt x="664087" y="626455"/>
                    <a:pt x="628085" y="641367"/>
                    <a:pt x="590546" y="641367"/>
                  </a:cubicBezTo>
                  <a:lnTo>
                    <a:pt x="141541" y="641367"/>
                  </a:lnTo>
                  <a:cubicBezTo>
                    <a:pt x="104002" y="641367"/>
                    <a:pt x="68001" y="626455"/>
                    <a:pt x="41456" y="599911"/>
                  </a:cubicBezTo>
                  <a:cubicBezTo>
                    <a:pt x="14912" y="573367"/>
                    <a:pt x="0" y="537365"/>
                    <a:pt x="0" y="499826"/>
                  </a:cubicBezTo>
                  <a:lnTo>
                    <a:pt x="0" y="141541"/>
                  </a:lnTo>
                  <a:cubicBezTo>
                    <a:pt x="0" y="104002"/>
                    <a:pt x="14912" y="68001"/>
                    <a:pt x="41456" y="41456"/>
                  </a:cubicBezTo>
                  <a:cubicBezTo>
                    <a:pt x="68001" y="14912"/>
                    <a:pt x="104002" y="0"/>
                    <a:pt x="141541" y="0"/>
                  </a:cubicBezTo>
                  <a:close/>
                </a:path>
              </a:pathLst>
            </a:custGeom>
            <a:solidFill>
              <a:srgbClr val="C8D1D9">
                <a:alpha val="44706"/>
              </a:srgbClr>
            </a:solidFill>
            <a:ln w="9525" cap="sq">
              <a:solidFill>
                <a:srgbClr val="000000">
                  <a:alpha val="44706"/>
                </a:srgbClr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32088" cy="650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>
            <a:off x="536007" y="1022085"/>
            <a:ext cx="72996" cy="169806"/>
          </a:xfrm>
          <a:custGeom>
            <a:avLst/>
            <a:gdLst/>
            <a:ahLst/>
            <a:cxnLst/>
            <a:rect r="r" b="b" t="t" l="l"/>
            <a:pathLst>
              <a:path h="169806" w="72996">
                <a:moveTo>
                  <a:pt x="0" y="169806"/>
                </a:moveTo>
                <a:quadBezTo>
                  <a:pt x="143570" y="88862"/>
                  <a:pt x="4762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942457" y="1181352"/>
            <a:ext cx="1059154" cy="794812"/>
            <a:chOff x="0" y="0"/>
            <a:chExt cx="886006" cy="6648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6006" cy="664878"/>
            </a:xfrm>
            <a:custGeom>
              <a:avLst/>
              <a:gdLst/>
              <a:ahLst/>
              <a:cxnLst/>
              <a:rect r="r" b="b" t="t" l="l"/>
              <a:pathLst>
                <a:path h="664878" w="886006">
                  <a:moveTo>
                    <a:pt x="116952" y="0"/>
                  </a:moveTo>
                  <a:lnTo>
                    <a:pt x="769054" y="0"/>
                  </a:lnTo>
                  <a:cubicBezTo>
                    <a:pt x="800072" y="0"/>
                    <a:pt x="829819" y="12322"/>
                    <a:pt x="851752" y="34255"/>
                  </a:cubicBezTo>
                  <a:cubicBezTo>
                    <a:pt x="873685" y="56187"/>
                    <a:pt x="886006" y="85935"/>
                    <a:pt x="886006" y="116952"/>
                  </a:cubicBezTo>
                  <a:lnTo>
                    <a:pt x="886006" y="547925"/>
                  </a:lnTo>
                  <a:cubicBezTo>
                    <a:pt x="886006" y="612517"/>
                    <a:pt x="833645" y="664878"/>
                    <a:pt x="769054" y="664878"/>
                  </a:cubicBezTo>
                  <a:lnTo>
                    <a:pt x="116952" y="664878"/>
                  </a:lnTo>
                  <a:cubicBezTo>
                    <a:pt x="52361" y="664878"/>
                    <a:pt x="0" y="612517"/>
                    <a:pt x="0" y="547925"/>
                  </a:cubicBezTo>
                  <a:lnTo>
                    <a:pt x="0" y="116952"/>
                  </a:lnTo>
                  <a:cubicBezTo>
                    <a:pt x="0" y="52361"/>
                    <a:pt x="52361" y="0"/>
                    <a:pt x="116952" y="0"/>
                  </a:cubicBezTo>
                  <a:close/>
                </a:path>
              </a:pathLst>
            </a:custGeom>
            <a:solidFill>
              <a:srgbClr val="C8D1D9">
                <a:alpha val="45882"/>
              </a:srgbClr>
            </a:solidFill>
            <a:ln w="9525" cap="sq">
              <a:solidFill>
                <a:srgbClr val="000000">
                  <a:alpha val="45882"/>
                </a:srgbClr>
              </a:solidFill>
              <a:prstDash val="lg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86006" cy="674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>
            <a:off x="2462032" y="1026233"/>
            <a:ext cx="72996" cy="169806"/>
          </a:xfrm>
          <a:custGeom>
            <a:avLst/>
            <a:gdLst/>
            <a:ahLst/>
            <a:cxnLst/>
            <a:rect r="r" b="b" t="t" l="l"/>
            <a:pathLst>
              <a:path h="169806" w="72996">
                <a:moveTo>
                  <a:pt x="0" y="169807"/>
                </a:moveTo>
                <a:quadBezTo>
                  <a:pt x="143570" y="88863"/>
                  <a:pt x="4762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2592555" y="2001254"/>
            <a:ext cx="1305076" cy="794812"/>
            <a:chOff x="0" y="0"/>
            <a:chExt cx="1091725" cy="6648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1726" cy="664878"/>
            </a:xfrm>
            <a:custGeom>
              <a:avLst/>
              <a:gdLst/>
              <a:ahLst/>
              <a:cxnLst/>
              <a:rect r="r" b="b" t="t" l="l"/>
              <a:pathLst>
                <a:path h="664878" w="1091726">
                  <a:moveTo>
                    <a:pt x="94915" y="0"/>
                  </a:moveTo>
                  <a:lnTo>
                    <a:pt x="996811" y="0"/>
                  </a:lnTo>
                  <a:cubicBezTo>
                    <a:pt x="1049231" y="0"/>
                    <a:pt x="1091726" y="42495"/>
                    <a:pt x="1091726" y="94915"/>
                  </a:cubicBezTo>
                  <a:lnTo>
                    <a:pt x="1091726" y="569963"/>
                  </a:lnTo>
                  <a:cubicBezTo>
                    <a:pt x="1091726" y="595136"/>
                    <a:pt x="1081726" y="619278"/>
                    <a:pt x="1063926" y="637078"/>
                  </a:cubicBezTo>
                  <a:cubicBezTo>
                    <a:pt x="1046126" y="654878"/>
                    <a:pt x="1021984" y="664878"/>
                    <a:pt x="996811" y="664878"/>
                  </a:cubicBezTo>
                  <a:lnTo>
                    <a:pt x="94915" y="664878"/>
                  </a:lnTo>
                  <a:cubicBezTo>
                    <a:pt x="69742" y="664878"/>
                    <a:pt x="45600" y="654878"/>
                    <a:pt x="27800" y="637078"/>
                  </a:cubicBezTo>
                  <a:cubicBezTo>
                    <a:pt x="10000" y="619278"/>
                    <a:pt x="0" y="595136"/>
                    <a:pt x="0" y="569963"/>
                  </a:cubicBezTo>
                  <a:lnTo>
                    <a:pt x="0" y="94915"/>
                  </a:lnTo>
                  <a:cubicBezTo>
                    <a:pt x="0" y="69742"/>
                    <a:pt x="10000" y="45600"/>
                    <a:pt x="27800" y="27800"/>
                  </a:cubicBezTo>
                  <a:cubicBezTo>
                    <a:pt x="45600" y="10000"/>
                    <a:pt x="69742" y="0"/>
                    <a:pt x="94915" y="0"/>
                  </a:cubicBezTo>
                  <a:close/>
                </a:path>
              </a:pathLst>
            </a:custGeom>
            <a:solidFill>
              <a:srgbClr val="C8D1D9">
                <a:alpha val="42745"/>
              </a:srgbClr>
            </a:solidFill>
            <a:ln w="9525" cap="sq">
              <a:solidFill>
                <a:srgbClr val="000000">
                  <a:alpha val="42745"/>
                </a:srgbClr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91725" cy="674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>
            <a:off x="3215252" y="1043479"/>
            <a:ext cx="228018" cy="932684"/>
          </a:xfrm>
          <a:custGeom>
            <a:avLst/>
            <a:gdLst/>
            <a:ahLst/>
            <a:cxnLst/>
            <a:rect r="r" b="b" t="t" l="l"/>
            <a:pathLst>
              <a:path h="932684" w="228018">
                <a:moveTo>
                  <a:pt x="0" y="932685"/>
                </a:moveTo>
                <a:quadBezTo>
                  <a:pt x="311879" y="511433"/>
                  <a:pt x="197175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4070469" y="1727369"/>
            <a:ext cx="1562708" cy="794812"/>
            <a:chOff x="0" y="0"/>
            <a:chExt cx="1307241" cy="6648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07241" cy="664878"/>
            </a:xfrm>
            <a:custGeom>
              <a:avLst/>
              <a:gdLst/>
              <a:ahLst/>
              <a:cxnLst/>
              <a:rect r="r" b="b" t="t" l="l"/>
              <a:pathLst>
                <a:path h="664878" w="1307241">
                  <a:moveTo>
                    <a:pt x="79267" y="0"/>
                  </a:moveTo>
                  <a:lnTo>
                    <a:pt x="1227974" y="0"/>
                  </a:lnTo>
                  <a:cubicBezTo>
                    <a:pt x="1248997" y="0"/>
                    <a:pt x="1269159" y="8351"/>
                    <a:pt x="1284024" y="23217"/>
                  </a:cubicBezTo>
                  <a:cubicBezTo>
                    <a:pt x="1298889" y="38082"/>
                    <a:pt x="1307241" y="58244"/>
                    <a:pt x="1307241" y="79267"/>
                  </a:cubicBezTo>
                  <a:lnTo>
                    <a:pt x="1307241" y="585611"/>
                  </a:lnTo>
                  <a:cubicBezTo>
                    <a:pt x="1307241" y="606634"/>
                    <a:pt x="1298889" y="626796"/>
                    <a:pt x="1284024" y="641661"/>
                  </a:cubicBezTo>
                  <a:cubicBezTo>
                    <a:pt x="1269159" y="656527"/>
                    <a:pt x="1248997" y="664878"/>
                    <a:pt x="1227974" y="664878"/>
                  </a:cubicBezTo>
                  <a:lnTo>
                    <a:pt x="79267" y="664878"/>
                  </a:lnTo>
                  <a:cubicBezTo>
                    <a:pt x="58244" y="664878"/>
                    <a:pt x="38082" y="656527"/>
                    <a:pt x="23217" y="641661"/>
                  </a:cubicBezTo>
                  <a:cubicBezTo>
                    <a:pt x="8351" y="626796"/>
                    <a:pt x="0" y="606634"/>
                    <a:pt x="0" y="585611"/>
                  </a:cubicBezTo>
                  <a:lnTo>
                    <a:pt x="0" y="79267"/>
                  </a:lnTo>
                  <a:cubicBezTo>
                    <a:pt x="0" y="58244"/>
                    <a:pt x="8351" y="38082"/>
                    <a:pt x="23217" y="23217"/>
                  </a:cubicBezTo>
                  <a:cubicBezTo>
                    <a:pt x="38082" y="8351"/>
                    <a:pt x="58244" y="0"/>
                    <a:pt x="79267" y="0"/>
                  </a:cubicBezTo>
                  <a:close/>
                </a:path>
              </a:pathLst>
            </a:custGeom>
            <a:solidFill>
              <a:srgbClr val="C8D1D9">
                <a:alpha val="45882"/>
              </a:srgbClr>
            </a:solidFill>
            <a:ln w="9525" cap="sq">
              <a:solidFill>
                <a:srgbClr val="000000">
                  <a:alpha val="45882"/>
                </a:srgbClr>
              </a:solidFill>
              <a:prstDash val="lg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07241" cy="674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>
            <a:off x="4413778" y="1046313"/>
            <a:ext cx="438045" cy="681056"/>
          </a:xfrm>
          <a:custGeom>
            <a:avLst/>
            <a:gdLst/>
            <a:ahLst/>
            <a:cxnLst/>
            <a:rect r="r" b="b" t="t" l="l"/>
            <a:pathLst>
              <a:path h="681056" w="438045">
                <a:moveTo>
                  <a:pt x="438045" y="681056"/>
                </a:moveTo>
                <a:quadBezTo>
                  <a:pt x="383377" y="596060"/>
                  <a:pt x="0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24" id="24"/>
          <p:cNvSpPr/>
          <p:nvPr/>
        </p:nvSpPr>
        <p:spPr>
          <a:xfrm>
            <a:off x="5185638" y="1046627"/>
            <a:ext cx="44982" cy="680742"/>
          </a:xfrm>
          <a:custGeom>
            <a:avLst/>
            <a:gdLst/>
            <a:ahLst/>
            <a:cxnLst/>
            <a:rect r="r" b="b" t="t" l="l"/>
            <a:pathLst>
              <a:path h="680742" w="44982">
                <a:moveTo>
                  <a:pt x="44982" y="680742"/>
                </a:moveTo>
                <a:quadBezTo>
                  <a:pt x="30399" y="460046"/>
                  <a:pt x="0" y="0"/>
                </a:quadBezTo>
              </a:path>
            </a:pathLst>
          </a:custGeom>
          <a:ln cap="flat" w="9525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49315" y="2673520"/>
            <a:ext cx="2212961" cy="213758"/>
            <a:chOff x="0" y="0"/>
            <a:chExt cx="1851192" cy="1788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51192" cy="178813"/>
            </a:xfrm>
            <a:custGeom>
              <a:avLst/>
              <a:gdLst/>
              <a:ahLst/>
              <a:cxnLst/>
              <a:rect r="r" b="b" t="t" l="l"/>
              <a:pathLst>
                <a:path h="178813" w="1851192">
                  <a:moveTo>
                    <a:pt x="55975" y="0"/>
                  </a:moveTo>
                  <a:lnTo>
                    <a:pt x="1795217" y="0"/>
                  </a:lnTo>
                  <a:cubicBezTo>
                    <a:pt x="1810062" y="0"/>
                    <a:pt x="1824299" y="5897"/>
                    <a:pt x="1834797" y="16395"/>
                  </a:cubicBezTo>
                  <a:cubicBezTo>
                    <a:pt x="1845294" y="26892"/>
                    <a:pt x="1851192" y="41130"/>
                    <a:pt x="1851192" y="55975"/>
                  </a:cubicBezTo>
                  <a:lnTo>
                    <a:pt x="1851192" y="122838"/>
                  </a:lnTo>
                  <a:cubicBezTo>
                    <a:pt x="1851192" y="137684"/>
                    <a:pt x="1845294" y="151921"/>
                    <a:pt x="1834797" y="162418"/>
                  </a:cubicBezTo>
                  <a:cubicBezTo>
                    <a:pt x="1824299" y="172916"/>
                    <a:pt x="1810062" y="178813"/>
                    <a:pt x="1795217" y="178813"/>
                  </a:cubicBezTo>
                  <a:lnTo>
                    <a:pt x="55975" y="178813"/>
                  </a:lnTo>
                  <a:cubicBezTo>
                    <a:pt x="41130" y="178813"/>
                    <a:pt x="26892" y="172916"/>
                    <a:pt x="16395" y="162418"/>
                  </a:cubicBezTo>
                  <a:cubicBezTo>
                    <a:pt x="5897" y="151921"/>
                    <a:pt x="0" y="137684"/>
                    <a:pt x="0" y="122838"/>
                  </a:cubicBezTo>
                  <a:lnTo>
                    <a:pt x="0" y="55975"/>
                  </a:lnTo>
                  <a:cubicBezTo>
                    <a:pt x="0" y="41130"/>
                    <a:pt x="5897" y="26892"/>
                    <a:pt x="16395" y="16395"/>
                  </a:cubicBezTo>
                  <a:cubicBezTo>
                    <a:pt x="26892" y="5897"/>
                    <a:pt x="41130" y="0"/>
                    <a:pt x="55975" y="0"/>
                  </a:cubicBezTo>
                  <a:close/>
                </a:path>
              </a:pathLst>
            </a:custGeom>
            <a:solidFill>
              <a:srgbClr val="CCDCF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851192" cy="188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51993" y="175441"/>
            <a:ext cx="921425" cy="24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>
                <a:solidFill>
                  <a:srgbClr val="0000DC"/>
                </a:solidFill>
                <a:latin typeface="PT Sans Bold"/>
                <a:ea typeface="PT Sans Bold"/>
                <a:cs typeface="PT Sans Bold"/>
                <a:sym typeface="PT Sans Bold"/>
              </a:rPr>
              <a:t>Background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0815" y="2024548"/>
            <a:ext cx="959298" cy="25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"/>
              </a:lnSpc>
              <a:spcBef>
                <a:spcPct val="0"/>
              </a:spcBef>
            </a:pPr>
            <a:r>
              <a:rPr lang="en-US" sz="5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</a:t>
            </a:r>
            <a:r>
              <a:rPr lang="en-US" b="true" sz="5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he Problem:</a:t>
            </a:r>
            <a:r>
              <a:rPr lang="en-US" sz="5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5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device perceives sensations at the edge, not inside the ISP core or remote hardware.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4220" y="2302662"/>
            <a:ext cx="970018" cy="25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"/>
              </a:lnSpc>
              <a:spcBef>
                <a:spcPct val="0"/>
              </a:spcBef>
            </a:pPr>
            <a:r>
              <a:rPr lang="en-US" b="true" sz="500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NERVE</a:t>
            </a:r>
            <a:r>
              <a:rPr lang="en-US" b="true" sz="500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 ⟶ Reports what was measured, never an unsubstantiated "ISP fault".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254" y="1240537"/>
            <a:ext cx="821966" cy="3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"/>
              </a:lnSpc>
              <a:spcBef>
                <a:spcPct val="0"/>
              </a:spcBef>
            </a:pPr>
            <a:r>
              <a:rPr lang="en-US" b="true" sz="432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The Problem: </a:t>
            </a:r>
            <a:r>
              <a:rPr lang="en-US" sz="43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Users only know their call froze or a page failed. Traditional speed tests just give a raw Mbps number, with zero clue which part of the path choked.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0358" y="1661639"/>
            <a:ext cx="645759" cy="2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"/>
              </a:lnSpc>
              <a:spcBef>
                <a:spcPct val="0"/>
              </a:spcBef>
            </a:pPr>
            <a:r>
              <a:rPr lang="en-US" b="true" sz="469">
                <a:solidFill>
                  <a:srgbClr val="0A30B4"/>
                </a:solidFill>
                <a:latin typeface="PT Sans Bold"/>
                <a:ea typeface="PT Sans Bold"/>
                <a:cs typeface="PT Sans Bold"/>
                <a:sym typeface="PT Sans Bold"/>
              </a:rPr>
              <a:t>NERVE ⟶ </a:t>
            </a:r>
            <a:r>
              <a:rPr lang="en-US" b="true" sz="469" i="true">
                <a:solidFill>
                  <a:srgbClr val="0A30B4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 </a:t>
            </a:r>
            <a:r>
              <a:rPr lang="en-US" b="true" sz="469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Lets user pick the symptom directly to focus initial checks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88982" y="1245604"/>
            <a:ext cx="940963" cy="30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"/>
              </a:lnSpc>
              <a:spcBef>
                <a:spcPct val="0"/>
              </a:spcBef>
            </a:pPr>
            <a:r>
              <a:rPr lang="en-US" b="true" sz="456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The Problem: </a:t>
            </a:r>
            <a:r>
              <a:rPr lang="en-US" sz="456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Tools run brute-force tests in a fixed order, or use black-box guesses that blame the ISP without proof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88982" y="1593898"/>
            <a:ext cx="1012628" cy="31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"/>
              </a:lnSpc>
              <a:spcBef>
                <a:spcPct val="0"/>
              </a:spcBef>
            </a:pPr>
            <a:r>
              <a:rPr lang="en-US" b="true" sz="472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NERVE</a:t>
            </a:r>
            <a:r>
              <a:rPr lang="en-US" b="true" sz="472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⟶</a:t>
            </a:r>
            <a:r>
              <a:rPr lang="en-US" b="true" sz="472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  Adaptive policy picks only the next-best probe to separate hypotheses; deterministic rules issue findings or honestly say Inconclusive</a:t>
            </a:r>
            <a:r>
              <a:rPr lang="en-US" b="true" sz="472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35399" y="2061359"/>
            <a:ext cx="1219388" cy="25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"/>
              </a:lnSpc>
              <a:spcBef>
                <a:spcPct val="0"/>
              </a:spcBef>
            </a:pPr>
            <a:r>
              <a:rPr lang="en-US" b="true" sz="5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The Problem: </a:t>
            </a:r>
            <a:r>
              <a:rPr lang="en-US" sz="5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Tools run brute-force tests in a fixed order, or use black-box guesses that blame the ISP without proof.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35399" y="2371604"/>
            <a:ext cx="1219388" cy="34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"/>
              </a:lnSpc>
              <a:spcBef>
                <a:spcPct val="0"/>
              </a:spcBef>
            </a:pPr>
            <a:r>
              <a:rPr lang="en-US" b="true" sz="509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NERVE ⟶</a:t>
            </a:r>
            <a:r>
              <a:rPr lang="en-US" b="true" sz="509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 </a:t>
            </a:r>
            <a:r>
              <a:rPr lang="en-US" b="true" sz="509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Adaptive policy picks only the next-best probe to separate hypotheses; deterministic rules issue findings or honestly say Inconclusive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98139" y="1793756"/>
            <a:ext cx="1321478" cy="29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  <a:spcBef>
                <a:spcPct val="0"/>
              </a:spcBef>
            </a:pPr>
            <a:r>
              <a:rPr lang="en-US" b="true" sz="599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The Problem:</a:t>
            </a:r>
            <a:r>
              <a:rPr lang="en-US" sz="599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Users try random reboots with zero follow-up or confirmation whether anything changed.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55103" y="2105332"/>
            <a:ext cx="1409011" cy="400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b="true" sz="600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NERVE ⟶ </a:t>
            </a:r>
            <a:r>
              <a:rPr lang="en-US" b="true" sz="600" i="true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 Suggests safe, consent-gated fixes and immediately re-tests the matched window to prove if the connection measurably improved.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659" y="2713081"/>
            <a:ext cx="2122646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THE BIGGER PROBLEM (Brute-Force Scans):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267" y="2929243"/>
            <a:ext cx="5532904" cy="254637"/>
            <a:chOff x="0" y="0"/>
            <a:chExt cx="4628399" cy="2130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28399" cy="213010"/>
            </a:xfrm>
            <a:custGeom>
              <a:avLst/>
              <a:gdLst/>
              <a:ahLst/>
              <a:cxnLst/>
              <a:rect r="r" b="b" t="t" l="l"/>
              <a:pathLst>
                <a:path h="213010" w="4628399">
                  <a:moveTo>
                    <a:pt x="22388" y="0"/>
                  </a:moveTo>
                  <a:lnTo>
                    <a:pt x="4606011" y="0"/>
                  </a:lnTo>
                  <a:cubicBezTo>
                    <a:pt x="4618376" y="0"/>
                    <a:pt x="4628399" y="10023"/>
                    <a:pt x="4628399" y="22388"/>
                  </a:cubicBezTo>
                  <a:lnTo>
                    <a:pt x="4628399" y="190622"/>
                  </a:lnTo>
                  <a:cubicBezTo>
                    <a:pt x="4628399" y="202986"/>
                    <a:pt x="4618376" y="213010"/>
                    <a:pt x="4606011" y="213010"/>
                  </a:cubicBezTo>
                  <a:lnTo>
                    <a:pt x="22388" y="213010"/>
                  </a:lnTo>
                  <a:cubicBezTo>
                    <a:pt x="10023" y="213010"/>
                    <a:pt x="0" y="202986"/>
                    <a:pt x="0" y="190622"/>
                  </a:cubicBezTo>
                  <a:lnTo>
                    <a:pt x="0" y="22388"/>
                  </a:lnTo>
                  <a:cubicBezTo>
                    <a:pt x="0" y="10023"/>
                    <a:pt x="10023" y="0"/>
                    <a:pt x="22388" y="0"/>
                  </a:cubicBezTo>
                  <a:close/>
                </a:path>
              </a:pathLst>
            </a:custGeom>
            <a:solidFill>
              <a:srgbClr val="FF3131">
                <a:alpha val="56863"/>
              </a:srgbClr>
            </a:solidFill>
            <a:ln w="9525" cap="sq">
              <a:solidFill>
                <a:srgbClr val="000000">
                  <a:alpha val="56863"/>
                </a:srgbClr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628399" cy="22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2254" y="2958715"/>
            <a:ext cx="1907715" cy="19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"/>
              </a:lnSpc>
              <a:spcBef>
                <a:spcPct val="0"/>
              </a:spcBef>
            </a:pPr>
            <a:r>
              <a:rPr lang="en-US" sz="6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Standard tools run every heavy test in a fixed order regardless of results, wasting user time and data.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539630" y="2964375"/>
            <a:ext cx="2902695" cy="186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"/>
              </a:lnSpc>
              <a:spcBef>
                <a:spcPct val="0"/>
              </a:spcBef>
            </a:pPr>
            <a:r>
              <a:rPr lang="en-US" sz="563" i="true">
                <a:solidFill>
                  <a:srgbClr val="000000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 Adapts to what it senses—picks only the probe that separates remaining explanations, stops when evidence is sufficient, and returns Inconclusive when it cannot prove the cause.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57955" y="2961891"/>
            <a:ext cx="637342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b="true" sz="1100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NERVE ⟶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07" y="284567"/>
            <a:ext cx="2825296" cy="2086633"/>
          </a:xfrm>
          <a:custGeom>
            <a:avLst/>
            <a:gdLst/>
            <a:ahLst/>
            <a:cxnLst/>
            <a:rect r="r" b="b" t="t" l="l"/>
            <a:pathLst>
              <a:path h="2086633" w="2825296">
                <a:moveTo>
                  <a:pt x="0" y="0"/>
                </a:moveTo>
                <a:lnTo>
                  <a:pt x="2825296" y="0"/>
                </a:lnTo>
                <a:lnTo>
                  <a:pt x="2825296" y="2086632"/>
                </a:lnTo>
                <a:lnTo>
                  <a:pt x="0" y="2086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9" t="-2464" r="-97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65648" y="1107429"/>
            <a:ext cx="2628450" cy="1263770"/>
          </a:xfrm>
          <a:custGeom>
            <a:avLst/>
            <a:gdLst/>
            <a:ahLst/>
            <a:cxnLst/>
            <a:rect r="r" b="b" t="t" l="l"/>
            <a:pathLst>
              <a:path h="1263770" w="2628450">
                <a:moveTo>
                  <a:pt x="0" y="0"/>
                </a:moveTo>
                <a:lnTo>
                  <a:pt x="2628450" y="0"/>
                </a:lnTo>
                <a:lnTo>
                  <a:pt x="2628450" y="1263770"/>
                </a:lnTo>
                <a:lnTo>
                  <a:pt x="0" y="1263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5135" y="2371199"/>
            <a:ext cx="5536291" cy="852473"/>
            <a:chOff x="0" y="0"/>
            <a:chExt cx="4631232" cy="7131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1232" cy="713113"/>
            </a:xfrm>
            <a:custGeom>
              <a:avLst/>
              <a:gdLst/>
              <a:ahLst/>
              <a:cxnLst/>
              <a:rect r="r" b="b" t="t" l="l"/>
              <a:pathLst>
                <a:path h="713113" w="4631232">
                  <a:moveTo>
                    <a:pt x="22374" y="0"/>
                  </a:moveTo>
                  <a:lnTo>
                    <a:pt x="4608858" y="0"/>
                  </a:lnTo>
                  <a:cubicBezTo>
                    <a:pt x="4614792" y="0"/>
                    <a:pt x="4620483" y="2357"/>
                    <a:pt x="4624679" y="6553"/>
                  </a:cubicBezTo>
                  <a:cubicBezTo>
                    <a:pt x="4628875" y="10749"/>
                    <a:pt x="4631232" y="16440"/>
                    <a:pt x="4631232" y="22374"/>
                  </a:cubicBezTo>
                  <a:lnTo>
                    <a:pt x="4631232" y="690739"/>
                  </a:lnTo>
                  <a:cubicBezTo>
                    <a:pt x="4631232" y="696673"/>
                    <a:pt x="4628875" y="702364"/>
                    <a:pt x="4624679" y="706560"/>
                  </a:cubicBezTo>
                  <a:cubicBezTo>
                    <a:pt x="4620483" y="710756"/>
                    <a:pt x="4614792" y="713113"/>
                    <a:pt x="4608858" y="713113"/>
                  </a:cubicBezTo>
                  <a:lnTo>
                    <a:pt x="22374" y="713113"/>
                  </a:lnTo>
                  <a:cubicBezTo>
                    <a:pt x="16440" y="713113"/>
                    <a:pt x="10749" y="710756"/>
                    <a:pt x="6553" y="706560"/>
                  </a:cubicBezTo>
                  <a:cubicBezTo>
                    <a:pt x="2357" y="702364"/>
                    <a:pt x="0" y="696673"/>
                    <a:pt x="0" y="690739"/>
                  </a:cubicBezTo>
                  <a:lnTo>
                    <a:pt x="0" y="22374"/>
                  </a:lnTo>
                  <a:cubicBezTo>
                    <a:pt x="0" y="16440"/>
                    <a:pt x="2357" y="10749"/>
                    <a:pt x="6553" y="6553"/>
                  </a:cubicBezTo>
                  <a:cubicBezTo>
                    <a:pt x="10749" y="2357"/>
                    <a:pt x="16440" y="0"/>
                    <a:pt x="22374" y="0"/>
                  </a:cubicBezTo>
                  <a:close/>
                </a:path>
              </a:pathLst>
            </a:custGeom>
            <a:solidFill>
              <a:srgbClr val="C8D1D9">
                <a:alpha val="31765"/>
              </a:srgbClr>
            </a:solidFill>
            <a:ln w="1905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631232" cy="722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"/>
                </a:lnSpc>
              </a:pP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[1]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4" tooltip="https://www.rfc-editor.org/rfc/rfc2308.html"/>
                </a:rPr>
                <a:t>RFC 2308 — DNS Negative Caching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[2]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5" tooltip="https://www.rfc-editor.org/rfc/rfc826.html"/>
                </a:rPr>
                <a:t>RFC 826 — Address Resolution Protocol (ARP)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[3]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6" tooltip="https://www.rfc-editor.org/rfc/rfc4861.html"/>
                </a:rPr>
                <a:t>RFC 4861 — IPv6 Neighbor Discovery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[4]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7" tooltip="https://www.rfc-editor.org/rfc/rfc7567.html"/>
                </a:rPr>
                <a:t>RFC 7567 — Active Queue Management Recommendations</a:t>
              </a:r>
            </a:p>
            <a:p>
              <a:pPr algn="ctr">
                <a:lnSpc>
                  <a:spcPts val="700"/>
                </a:lnSpc>
              </a:pP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[5]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8" tooltip="https://www.rfc-editor.org/rfc/rfc8290.html"/>
                </a:rPr>
                <a:t>RFC 8290 — FQ-CoDel Queue Management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[6]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9" tooltip="https://www.rfc-editor.org/rfc/rfc2680.html"/>
                </a:rPr>
                <a:t>RFC 2680 — One-Way Packet Loss Metric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[7]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10" tooltip="https://www.rfc-editor.org/rfc/rfc2681.html"/>
                </a:rPr>
                <a:t>RFC 2681 — Round-Trip Delay Metric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[8]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11" tooltip="https://www.rfc-editor.org/rfc/rfc3393.html"/>
                </a:rPr>
                <a:t>RFC 3393 — IP Packet Delay Variation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[9]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12" tooltip="https://www.rfc-editor.org/rfc/rfc8305.html"/>
                </a:rPr>
                <a:t>RFC 8305 — Happy Eyeballs Version 2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  <a:r>
                <a:rPr lang="en-US" sz="500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</a:rPr>
                <a:t>[10] </a:t>
              </a:r>
              <a:r>
                <a:rPr lang="en-US" sz="500" u="sng">
                  <a:solidFill>
                    <a:srgbClr val="000000">
                      <a:alpha val="31765"/>
                    </a:srgbClr>
                  </a:solidFill>
                  <a:latin typeface="PT Sans"/>
                  <a:ea typeface="PT Sans"/>
                  <a:cs typeface="PT Sans"/>
                  <a:sym typeface="PT Sans"/>
                  <a:hlinkClick r:id="rId13" tooltip="https://www.rfc-editor.org/rfc/rfc8484.html"/>
                </a:rPr>
                <a:t>RFC 8484 — DNS over HTTPS (DoH)</a:t>
              </a:r>
            </a:p>
            <a:p>
              <a:pPr algn="ctr">
                <a:lnSpc>
                  <a:spcPts val="7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942" y="2866042"/>
            <a:ext cx="5431156" cy="316620"/>
            <a:chOff x="0" y="0"/>
            <a:chExt cx="4543285" cy="2648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3285" cy="264860"/>
            </a:xfrm>
            <a:custGeom>
              <a:avLst/>
              <a:gdLst/>
              <a:ahLst/>
              <a:cxnLst/>
              <a:rect r="r" b="b" t="t" l="l"/>
              <a:pathLst>
                <a:path h="264860" w="4543285">
                  <a:moveTo>
                    <a:pt x="22807" y="0"/>
                  </a:moveTo>
                  <a:lnTo>
                    <a:pt x="4520477" y="0"/>
                  </a:lnTo>
                  <a:cubicBezTo>
                    <a:pt x="4526526" y="0"/>
                    <a:pt x="4532327" y="2403"/>
                    <a:pt x="4536604" y="6680"/>
                  </a:cubicBezTo>
                  <a:cubicBezTo>
                    <a:pt x="4540882" y="10957"/>
                    <a:pt x="4543285" y="16759"/>
                    <a:pt x="4543285" y="22807"/>
                  </a:cubicBezTo>
                  <a:lnTo>
                    <a:pt x="4543285" y="242052"/>
                  </a:lnTo>
                  <a:cubicBezTo>
                    <a:pt x="4543285" y="254649"/>
                    <a:pt x="4533073" y="264860"/>
                    <a:pt x="4520477" y="264860"/>
                  </a:cubicBezTo>
                  <a:lnTo>
                    <a:pt x="22807" y="264860"/>
                  </a:lnTo>
                  <a:cubicBezTo>
                    <a:pt x="16759" y="264860"/>
                    <a:pt x="10957" y="262457"/>
                    <a:pt x="6680" y="258180"/>
                  </a:cubicBezTo>
                  <a:cubicBezTo>
                    <a:pt x="2403" y="253902"/>
                    <a:pt x="0" y="248101"/>
                    <a:pt x="0" y="242052"/>
                  </a:cubicBezTo>
                  <a:lnTo>
                    <a:pt x="0" y="22807"/>
                  </a:lnTo>
                  <a:cubicBezTo>
                    <a:pt x="0" y="10211"/>
                    <a:pt x="10211" y="0"/>
                    <a:pt x="22807" y="0"/>
                  </a:cubicBezTo>
                  <a:close/>
                </a:path>
              </a:pathLst>
            </a:custGeom>
            <a:solidFill>
              <a:srgbClr val="FF3131">
                <a:alpha val="63922"/>
              </a:srgbClr>
            </a:solidFill>
            <a:ln w="9525" cap="sq">
              <a:solidFill>
                <a:srgbClr val="000000">
                  <a:alpha val="63922"/>
                </a:srgbClr>
              </a:solidFill>
              <a:prstDash val="lg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543285" cy="274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4452" y="2867101"/>
            <a:ext cx="5248136" cy="29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  <a:spcBef>
                <a:spcPct val="0"/>
              </a:spcBef>
            </a:pPr>
            <a:r>
              <a:rPr lang="en-US" sz="882" i="true">
                <a:solidFill>
                  <a:srgbClr val="000000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To our knowledge, none of these combine adaptive test selection, explicit inconclusive and verified remediation. That’s NERVE’S gap 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35" y="48169"/>
            <a:ext cx="164461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2BBE"/>
                </a:solidFill>
                <a:latin typeface="PT Sans Bold"/>
                <a:ea typeface="PT Sans Bold"/>
                <a:cs typeface="PT Sans Bold"/>
                <a:sym typeface="PT Sans Bold"/>
              </a:rPr>
              <a:t>literature and RFC 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942" y="2444999"/>
            <a:ext cx="664726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REFERENCES: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90744" y="870040"/>
            <a:ext cx="2368845" cy="193659"/>
            <a:chOff x="0" y="0"/>
            <a:chExt cx="1981592" cy="1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1592" cy="162000"/>
            </a:xfrm>
            <a:custGeom>
              <a:avLst/>
              <a:gdLst/>
              <a:ahLst/>
              <a:cxnLst/>
              <a:rect r="r" b="b" t="t" l="l"/>
              <a:pathLst>
                <a:path h="162000" w="1981592">
                  <a:moveTo>
                    <a:pt x="52292" y="0"/>
                  </a:moveTo>
                  <a:lnTo>
                    <a:pt x="1929300" y="0"/>
                  </a:lnTo>
                  <a:cubicBezTo>
                    <a:pt x="1958180" y="0"/>
                    <a:pt x="1981592" y="23412"/>
                    <a:pt x="1981592" y="52292"/>
                  </a:cubicBezTo>
                  <a:lnTo>
                    <a:pt x="1981592" y="109709"/>
                  </a:lnTo>
                  <a:cubicBezTo>
                    <a:pt x="1981592" y="138589"/>
                    <a:pt x="1958180" y="162000"/>
                    <a:pt x="1929300" y="162000"/>
                  </a:cubicBezTo>
                  <a:lnTo>
                    <a:pt x="52292" y="162000"/>
                  </a:lnTo>
                  <a:cubicBezTo>
                    <a:pt x="23412" y="162000"/>
                    <a:pt x="0" y="138589"/>
                    <a:pt x="0" y="109709"/>
                  </a:cubicBezTo>
                  <a:lnTo>
                    <a:pt x="0" y="52292"/>
                  </a:lnTo>
                  <a:cubicBezTo>
                    <a:pt x="0" y="23412"/>
                    <a:pt x="23412" y="0"/>
                    <a:pt x="52292" y="0"/>
                  </a:cubicBezTo>
                  <a:close/>
                </a:path>
              </a:pathLst>
            </a:custGeom>
            <a:solidFill>
              <a:srgbClr val="FBCA41">
                <a:alpha val="63922"/>
              </a:srgbClr>
            </a:solidFill>
            <a:ln w="9525" cap="sq">
              <a:solidFill>
                <a:srgbClr val="000000">
                  <a:alpha val="63922"/>
                </a:srgbClr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81592" cy="1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161125" y="891692"/>
            <a:ext cx="2237496" cy="15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"/>
              </a:lnSpc>
              <a:spcBef>
                <a:spcPct val="0"/>
              </a:spcBef>
            </a:pPr>
            <a:r>
              <a:rPr lang="en-US" sz="9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exisiting work and capability comparision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808" y="781878"/>
            <a:ext cx="5622032" cy="2133046"/>
          </a:xfrm>
          <a:custGeom>
            <a:avLst/>
            <a:gdLst/>
            <a:ahLst/>
            <a:cxnLst/>
            <a:rect r="r" b="b" t="t" l="l"/>
            <a:pathLst>
              <a:path h="2133046" w="5622032">
                <a:moveTo>
                  <a:pt x="0" y="0"/>
                </a:moveTo>
                <a:lnTo>
                  <a:pt x="5622032" y="0"/>
                </a:lnTo>
                <a:lnTo>
                  <a:pt x="5622032" y="2133046"/>
                </a:lnTo>
                <a:lnTo>
                  <a:pt x="0" y="213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118" r="0" b="-14138"/>
            </a:stretch>
          </a:blipFill>
          <a:ln w="19050" cap="sq">
            <a:solidFill>
              <a:srgbClr val="000000"/>
            </a:solidFill>
            <a:prstDash val="lgDash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71010" y="3098578"/>
            <a:ext cx="556855" cy="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3" action="ppaction://hlinksldjump"/>
              </a:rPr>
              <a:t>A3-PS015-TC554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0925" y="21479"/>
            <a:ext cx="284959" cy="10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4" action="ppaction://hlinksldjump"/>
              </a:rPr>
              <a:t>AIORI</a:t>
            </a:r>
            <a:r>
              <a:rPr lang="en-US" sz="5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  <a:hlinkClick r:id="rId4" action="ppaction://hlinksldjump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59713" y="21479"/>
            <a:ext cx="594598" cy="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1993" y="175441"/>
            <a:ext cx="1431727" cy="24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>
                <a:solidFill>
                  <a:srgbClr val="0000DC"/>
                </a:solidFill>
                <a:latin typeface="PT Sans Bold"/>
                <a:ea typeface="PT Sans Bold"/>
                <a:cs typeface="PT Sans Bold"/>
                <a:sym typeface="PT Sans Bold"/>
              </a:rPr>
              <a:t>Proposed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880" y="3098578"/>
            <a:ext cx="808130" cy="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THREE</a:t>
            </a: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 MUSKETEERS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7591" y="3098578"/>
            <a:ext cx="564118" cy="9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October</a:t>
            </a:r>
            <a:r>
              <a:rPr lang="en-US" sz="5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12</a:t>
            </a: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,</a:t>
            </a:r>
            <a:r>
              <a:rPr lang="en-US" sz="59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597">
                <a:solidFill>
                  <a:srgbClr val="0000DC"/>
                </a:solidFill>
                <a:latin typeface="PT Sans"/>
                <a:ea typeface="PT Sans"/>
                <a:cs typeface="PT Sans"/>
                <a:sym typeface="PT Sans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1284" y="3047619"/>
            <a:ext cx="51625" cy="2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5">
                <a:solidFill>
                  <a:srgbClr val="0000DC"/>
                </a:solidFill>
                <a:latin typeface="Open Sans"/>
                <a:ea typeface="Open Sans"/>
                <a:cs typeface="Open Sans"/>
                <a:sym typeface="Open Sans"/>
              </a:rPr>
              <a:t>·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5965" y="3047619"/>
            <a:ext cx="51625" cy="27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5">
                <a:solidFill>
                  <a:srgbClr val="0000DC"/>
                </a:solidFill>
                <a:latin typeface="Open Sans"/>
                <a:ea typeface="Open Sans"/>
                <a:cs typeface="Open Sans"/>
                <a:sym typeface="Open Sans"/>
              </a:rPr>
              <a:t>·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808" y="445117"/>
            <a:ext cx="5694398" cy="58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true" sz="10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An evidence-driven diagn</a:t>
            </a:r>
            <a:r>
              <a:rPr lang="en-US" b="true" sz="100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ostic pipeline that separates network symptoms from defensible findings.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</a:p>
          <a:p>
            <a:pPr algn="ctr">
              <a:lnSpc>
                <a:spcPts val="1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6" y="0"/>
            <a:ext cx="5757875" cy="3238805"/>
          </a:xfrm>
          <a:custGeom>
            <a:avLst/>
            <a:gdLst/>
            <a:ahLst/>
            <a:cxnLst/>
            <a:rect r="r" b="b" t="t" l="l"/>
            <a:pathLst>
              <a:path h="3238805" w="5757875">
                <a:moveTo>
                  <a:pt x="0" y="0"/>
                </a:moveTo>
                <a:lnTo>
                  <a:pt x="5757875" y="0"/>
                </a:lnTo>
                <a:lnTo>
                  <a:pt x="5757875" y="3238805"/>
                </a:lnTo>
                <a:lnTo>
                  <a:pt x="0" y="3238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43088" y="682384"/>
            <a:ext cx="2040268" cy="1974963"/>
            <a:chOff x="0" y="0"/>
            <a:chExt cx="1706730" cy="1652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6731" cy="1652101"/>
            </a:xfrm>
            <a:custGeom>
              <a:avLst/>
              <a:gdLst/>
              <a:ahLst/>
              <a:cxnLst/>
              <a:rect r="r" b="b" t="t" l="l"/>
              <a:pathLst>
                <a:path h="1652101" w="1706731">
                  <a:moveTo>
                    <a:pt x="37946" y="0"/>
                  </a:moveTo>
                  <a:lnTo>
                    <a:pt x="1668785" y="0"/>
                  </a:lnTo>
                  <a:cubicBezTo>
                    <a:pt x="1689742" y="0"/>
                    <a:pt x="1706731" y="16989"/>
                    <a:pt x="1706731" y="37946"/>
                  </a:cubicBezTo>
                  <a:lnTo>
                    <a:pt x="1706731" y="1614156"/>
                  </a:lnTo>
                  <a:cubicBezTo>
                    <a:pt x="1706731" y="1624219"/>
                    <a:pt x="1702733" y="1633871"/>
                    <a:pt x="1695616" y="1640987"/>
                  </a:cubicBezTo>
                  <a:cubicBezTo>
                    <a:pt x="1688500" y="1648103"/>
                    <a:pt x="1678849" y="1652101"/>
                    <a:pt x="1668785" y="1652101"/>
                  </a:cubicBezTo>
                  <a:lnTo>
                    <a:pt x="37946" y="1652101"/>
                  </a:lnTo>
                  <a:cubicBezTo>
                    <a:pt x="16989" y="1652101"/>
                    <a:pt x="0" y="1635112"/>
                    <a:pt x="0" y="1614156"/>
                  </a:cubicBezTo>
                  <a:lnTo>
                    <a:pt x="0" y="37946"/>
                  </a:lnTo>
                  <a:cubicBezTo>
                    <a:pt x="0" y="16989"/>
                    <a:pt x="16989" y="0"/>
                    <a:pt x="37946" y="0"/>
                  </a:cubicBezTo>
                  <a:close/>
                </a:path>
              </a:pathLst>
            </a:custGeom>
            <a:solidFill>
              <a:srgbClr val="F2F6FB"/>
            </a:solidFill>
            <a:ln w="14288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706730" cy="1661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613603" y="737914"/>
            <a:ext cx="1899238" cy="1863903"/>
          </a:xfrm>
          <a:custGeom>
            <a:avLst/>
            <a:gdLst/>
            <a:ahLst/>
            <a:cxnLst/>
            <a:rect r="r" b="b" t="t" l="l"/>
            <a:pathLst>
              <a:path h="1863903" w="1899238">
                <a:moveTo>
                  <a:pt x="0" y="0"/>
                </a:moveTo>
                <a:lnTo>
                  <a:pt x="1899238" y="0"/>
                </a:lnTo>
                <a:lnTo>
                  <a:pt x="1899238" y="1863903"/>
                </a:lnTo>
                <a:lnTo>
                  <a:pt x="0" y="186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70" y="0"/>
            <a:ext cx="5700867" cy="3238805"/>
          </a:xfrm>
          <a:custGeom>
            <a:avLst/>
            <a:gdLst/>
            <a:ahLst/>
            <a:cxnLst/>
            <a:rect r="r" b="b" t="t" l="l"/>
            <a:pathLst>
              <a:path h="3238805" w="5700867">
                <a:moveTo>
                  <a:pt x="0" y="0"/>
                </a:moveTo>
                <a:lnTo>
                  <a:pt x="5700866" y="0"/>
                </a:lnTo>
                <a:lnTo>
                  <a:pt x="5700866" y="3238805"/>
                </a:lnTo>
                <a:lnTo>
                  <a:pt x="0" y="3238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561"/>
            <a:ext cx="5733536" cy="3257365"/>
          </a:xfrm>
          <a:custGeom>
            <a:avLst/>
            <a:gdLst/>
            <a:ahLst/>
            <a:cxnLst/>
            <a:rect r="r" b="b" t="t" l="l"/>
            <a:pathLst>
              <a:path h="3257365" w="5733536">
                <a:moveTo>
                  <a:pt x="0" y="0"/>
                </a:moveTo>
                <a:lnTo>
                  <a:pt x="5733536" y="0"/>
                </a:lnTo>
                <a:lnTo>
                  <a:pt x="5733536" y="3257366"/>
                </a:lnTo>
                <a:lnTo>
                  <a:pt x="0" y="325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109569"/>
            <a:ext cx="1956166" cy="129236"/>
          </a:xfrm>
          <a:custGeom>
            <a:avLst/>
            <a:gdLst/>
            <a:ahLst/>
            <a:cxnLst/>
            <a:rect r="r" b="b" t="t" l="l"/>
            <a:pathLst>
              <a:path h="129236" w="1956166">
                <a:moveTo>
                  <a:pt x="0" y="0"/>
                </a:moveTo>
                <a:lnTo>
                  <a:pt x="1956166" y="0"/>
                </a:lnTo>
                <a:lnTo>
                  <a:pt x="1956166" y="129236"/>
                </a:lnTo>
                <a:lnTo>
                  <a:pt x="0" y="129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766206" cy="3115453"/>
          </a:xfrm>
          <a:custGeom>
            <a:avLst/>
            <a:gdLst/>
            <a:ahLst/>
            <a:cxnLst/>
            <a:rect r="r" b="b" t="t" l="l"/>
            <a:pathLst>
              <a:path h="3115453" w="5766206">
                <a:moveTo>
                  <a:pt x="0" y="0"/>
                </a:moveTo>
                <a:lnTo>
                  <a:pt x="5766206" y="0"/>
                </a:lnTo>
                <a:lnTo>
                  <a:pt x="5766206" y="3115453"/>
                </a:lnTo>
                <a:lnTo>
                  <a:pt x="0" y="3115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22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865"/>
            <a:ext cx="5766206" cy="3229076"/>
          </a:xfrm>
          <a:custGeom>
            <a:avLst/>
            <a:gdLst/>
            <a:ahLst/>
            <a:cxnLst/>
            <a:rect r="r" b="b" t="t" l="l"/>
            <a:pathLst>
              <a:path h="3229076" w="5766206">
                <a:moveTo>
                  <a:pt x="0" y="0"/>
                </a:moveTo>
                <a:lnTo>
                  <a:pt x="5766206" y="0"/>
                </a:lnTo>
                <a:lnTo>
                  <a:pt x="5766206" y="3229075"/>
                </a:lnTo>
                <a:lnTo>
                  <a:pt x="0" y="322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9862" y="1296495"/>
            <a:ext cx="2306483" cy="645815"/>
          </a:xfrm>
          <a:custGeom>
            <a:avLst/>
            <a:gdLst/>
            <a:ahLst/>
            <a:cxnLst/>
            <a:rect r="r" b="b" t="t" l="l"/>
            <a:pathLst>
              <a:path h="645815" w="2306483">
                <a:moveTo>
                  <a:pt x="0" y="0"/>
                </a:moveTo>
                <a:lnTo>
                  <a:pt x="2306482" y="0"/>
                </a:lnTo>
                <a:lnTo>
                  <a:pt x="2306482" y="645815"/>
                </a:lnTo>
                <a:lnTo>
                  <a:pt x="0" y="64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DAHX0Qinz84</dc:identifier>
  <dcterms:modified xsi:type="dcterms:W3CDTF">2011-08-01T06:04:30Z</dcterms:modified>
  <cp:revision>1</cp:revision>
  <dc:title>A3-PS015-TC554 </dc:title>
</cp:coreProperties>
</file>